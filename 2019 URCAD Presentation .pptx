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3"/>
  </p:handoutMasterIdLst>
  <p:sldIdLst>
    <p:sldId id="256" r:id="rId2"/>
  </p:sldIdLst>
  <p:sldSz cx="36576000" cy="27432000"/>
  <p:notesSz cx="6858000" cy="9144000"/>
  <p:defaultTextStyle>
    <a:defPPr>
      <a:defRPr lang="en-US"/>
    </a:defPPr>
    <a:lvl1pPr marL="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1pPr>
    <a:lvl2pPr marL="182880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2pPr>
    <a:lvl3pPr marL="365760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3pPr>
    <a:lvl4pPr marL="548640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4pPr>
    <a:lvl5pPr marL="731520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5pPr>
    <a:lvl6pPr marL="914400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6pPr>
    <a:lvl7pPr marL="1097280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7pPr>
    <a:lvl8pPr marL="1280160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8pPr>
    <a:lvl9pPr marL="14630400" algn="l" defTabSz="3657600" rtl="0" eaLnBrk="1" latinLnBrk="0" hangingPunct="1">
      <a:defRPr sz="7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0" userDrawn="1">
          <p15:clr>
            <a:srgbClr val="A4A3A4"/>
          </p15:clr>
        </p15:guide>
        <p15:guide id="2" pos="115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obum Lee" initials="SL" lastIdx="4" clrIdx="0">
    <p:extLst>
      <p:ext uri="{19B8F6BF-5375-455C-9EA6-DF929625EA0E}">
        <p15:presenceInfo xmlns:p15="http://schemas.microsoft.com/office/powerpoint/2012/main" userId="S-1-5-21-1935655697-1336601894-1417001333-13172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 showGuides="1">
      <p:cViewPr>
        <p:scale>
          <a:sx n="22" d="100"/>
          <a:sy n="22" d="100"/>
        </p:scale>
        <p:origin x="1315" y="-67"/>
      </p:cViewPr>
      <p:guideLst>
        <p:guide orient="horz" pos="8640"/>
        <p:guide pos="115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handoutMaster" Target="handoutMasters/handout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4-14T22:42:19.278" idx="1">
    <p:pos x="10" y="10"/>
    <p:text>This is not a poster, but copy/paste of report full of full sentences. Avoid using a full LONG sentence. Convert into itemized bullet points.</p:text>
    <p:extLst>
      <p:ext uri="{C676402C-5697-4E1C-873F-D02D1690AC5C}">
        <p15:threadingInfo xmlns:p15="http://schemas.microsoft.com/office/powerpoint/2012/main" timeZoneBias="240"/>
      </p:ext>
    </p:extLst>
  </p:cm>
  <p:cm authorId="1" dt="2019-04-14T22:45:54.632" idx="3">
    <p:pos x="106" y="106"/>
    <p:text>Increase font size - terribly small currently. I revised the first line on "background" Use these font sizes</p:text>
    <p:extLst>
      <p:ext uri="{C676402C-5697-4E1C-873F-D02D1690AC5C}">
        <p15:threadingInfo xmlns:p15="http://schemas.microsoft.com/office/powerpoint/2012/main" timeZoneBias="240"/>
      </p:ext>
    </p:extLst>
  </p:cm>
  <p:cm authorId="1" dt="2019-04-14T22:46:25.478" idx="4">
    <p:pos x="202" y="202"/>
    <p:text>Make use of space efficiently - still it has large margin at the bottom</p:text>
    <p:extLst>
      <p:ext uri="{C676402C-5697-4E1C-873F-D02D1690AC5C}">
        <p15:threadingInfo xmlns:p15="http://schemas.microsoft.com/office/powerpoint/2012/main" timeZoneBias="24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B924F-76F7-4CD6-9EA9-1B03B8A3633F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E795B-5215-47B8-A549-DF05080F5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876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4489452"/>
            <a:ext cx="31089600" cy="9550400"/>
          </a:xfrm>
          <a:prstGeom prst="rect">
            <a:avLst/>
          </a:prstGeo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4408152"/>
            <a:ext cx="27432000" cy="66230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MD-flag-background-pp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53746"/>
            <a:ext cx="36599518" cy="23017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4871" y="23576104"/>
            <a:ext cx="3555046" cy="3550424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25634360" y="25721706"/>
            <a:ext cx="59735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April 24, 2019</a:t>
            </a:r>
          </a:p>
        </p:txBody>
      </p:sp>
      <p:pic>
        <p:nvPicPr>
          <p:cNvPr id="21" name="Picture 20" descr="UMBC-primary-logo-CMYK-on-black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565" y="25454926"/>
            <a:ext cx="6808077" cy="156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88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ctr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6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comments" Target="../comments/commen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84E780-DE38-4A1A-9210-30D4B4AA3010}"/>
              </a:ext>
            </a:extLst>
          </p:cNvPr>
          <p:cNvSpPr txBox="1"/>
          <p:nvPr/>
        </p:nvSpPr>
        <p:spPr>
          <a:xfrm>
            <a:off x="2514600" y="769765"/>
            <a:ext cx="31546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Piezoelectric Energy Harvesting Research For Self-Sustainable Wind Turbine Monitoring Systems</a:t>
            </a:r>
            <a:endParaRPr lang="en-US" sz="17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76A8C1-AF9A-4051-8D9B-B647221DF4E3}"/>
              </a:ext>
            </a:extLst>
          </p:cNvPr>
          <p:cNvSpPr txBox="1"/>
          <p:nvPr/>
        </p:nvSpPr>
        <p:spPr>
          <a:xfrm>
            <a:off x="2514600" y="3167249"/>
            <a:ext cx="32181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Miles Smith, Alexander Gliese, </a:t>
            </a:r>
            <a:r>
              <a:rPr lang="en-US" dirty="0" err="1"/>
              <a:t>HyunJun</a:t>
            </a:r>
            <a:r>
              <a:rPr lang="en-US" dirty="0"/>
              <a:t> Jung, and </a:t>
            </a:r>
            <a:r>
              <a:rPr lang="en-US" dirty="0" err="1"/>
              <a:t>Soobum</a:t>
            </a:r>
            <a:r>
              <a:rPr lang="en-US" dirty="0"/>
              <a:t> Lee</a:t>
            </a:r>
          </a:p>
          <a:p>
            <a:pPr algn="ctr"/>
            <a:r>
              <a:rPr lang="en-US" sz="6000" dirty="0"/>
              <a:t>Department of Mechanical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04A1E0-B821-4587-A250-BD11D34E8F98}"/>
              </a:ext>
            </a:extLst>
          </p:cNvPr>
          <p:cNvSpPr txBox="1"/>
          <p:nvPr/>
        </p:nvSpPr>
        <p:spPr>
          <a:xfrm>
            <a:off x="11558882" y="5918834"/>
            <a:ext cx="13512800" cy="226985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b="1" u="sng" dirty="0"/>
              <a:t>Results</a:t>
            </a:r>
          </a:p>
          <a:p>
            <a:pPr algn="ctr"/>
            <a:endParaRPr lang="en-US" sz="6000" b="1" dirty="0"/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b="0" u="none" dirty="0">
              <a:solidFill>
                <a:schemeClr val="tx1"/>
              </a:solidFill>
            </a:endParaRPr>
          </a:p>
          <a:p>
            <a:pPr marL="342900" marR="0" lvl="0" indent="-200660" algn="l" rtl="0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Font typeface="Tahoma"/>
              <a:buNone/>
            </a:pPr>
            <a:endParaRPr lang="en-US" sz="5400" b="0" i="0" u="none" strike="noStrike" cap="none" baseline="0" dirty="0">
              <a:solidFill>
                <a:schemeClr val="tx1"/>
              </a:solidFill>
              <a:latin typeface="+mn-lt"/>
              <a:ea typeface="Tahoma"/>
              <a:cs typeface="Tahoma"/>
              <a:sym typeface="Tahoma"/>
            </a:endParaRPr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b="0" i="0" u="none" strike="noStrike" cap="none" baseline="0" dirty="0">
              <a:solidFill>
                <a:schemeClr val="tx1"/>
              </a:solidFill>
              <a:latin typeface="+mn-lt"/>
              <a:ea typeface="Tahoma"/>
              <a:cs typeface="Tahoma"/>
              <a:sym typeface="Tahoma"/>
            </a:endParaRPr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b="0" i="0" u="none" strike="noStrike" cap="none" baseline="0" dirty="0">
              <a:solidFill>
                <a:schemeClr val="tx1"/>
              </a:solidFill>
              <a:latin typeface="+mn-lt"/>
              <a:ea typeface="Tahoma"/>
              <a:cs typeface="Tahoma"/>
              <a:sym typeface="Tahoma"/>
            </a:endParaRPr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b="0" i="0" u="none" strike="noStrike" cap="none" baseline="0" dirty="0">
              <a:solidFill>
                <a:schemeClr val="tx1"/>
              </a:solidFill>
              <a:latin typeface="+mn-lt"/>
              <a:ea typeface="Tahoma"/>
              <a:cs typeface="Tahoma"/>
              <a:sym typeface="Tahoma"/>
            </a:endParaRPr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0" i="0" u="none" strike="noStrike" cap="none" baseline="0" dirty="0">
                <a:solidFill>
                  <a:schemeClr val="tx1"/>
                </a:solidFill>
                <a:latin typeface="+mn-lt"/>
                <a:ea typeface="Tahoma"/>
                <a:cs typeface="Tahoma"/>
                <a:sym typeface="Tahoma"/>
              </a:rPr>
              <a:t> </a:t>
            </a:r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b="0" i="0" u="none" strike="noStrike" cap="none" baseline="0" dirty="0">
              <a:solidFill>
                <a:schemeClr val="tx1"/>
              </a:solidFill>
              <a:latin typeface="+mn-lt"/>
              <a:ea typeface="Tahoma"/>
              <a:cs typeface="Tahoma"/>
              <a:sym typeface="Tahoma"/>
            </a:endParaRPr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dirty="0">
              <a:ea typeface="Tahoma"/>
              <a:cs typeface="Tahoma"/>
              <a:sym typeface="Tahoma"/>
            </a:endParaRPr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b="0" u="none" dirty="0">
              <a:solidFill>
                <a:schemeClr val="tx1"/>
              </a:solidFill>
              <a:ea typeface="Tahoma"/>
              <a:cs typeface="Tahoma"/>
              <a:sym typeface="Tahoma"/>
            </a:endParaRPr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dirty="0">
              <a:ea typeface="Tahoma"/>
              <a:cs typeface="Tahoma"/>
              <a:sym typeface="Tahoma"/>
            </a:endParaRPr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b="0" u="none" dirty="0">
              <a:solidFill>
                <a:schemeClr val="tx1"/>
              </a:solidFill>
              <a:ea typeface="Tahoma"/>
              <a:cs typeface="Tahoma"/>
              <a:sym typeface="Tahoma"/>
            </a:endParaRPr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b="0" u="none" dirty="0">
              <a:solidFill>
                <a:schemeClr val="tx1"/>
              </a:solidFill>
            </a:endParaRPr>
          </a:p>
          <a:p>
            <a:pPr marL="685800" marR="0" indent="-68580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5400" b="0" u="none" dirty="0"/>
          </a:p>
          <a:p>
            <a:pPr lvl="0"/>
            <a:endParaRPr lang="en-US" sz="2400" dirty="0"/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3600" dirty="0"/>
              <a:t>Resistance = 30 </a:t>
            </a:r>
            <a:r>
              <a:rPr lang="en-US" sz="3600" dirty="0" err="1"/>
              <a:t>kΩ</a:t>
            </a:r>
            <a:r>
              <a:rPr lang="en-US" sz="3600" dirty="0"/>
              <a:t>.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3600" dirty="0"/>
              <a:t>Unaltered power output based on Ohm’s Law (P = V²/R, where P is power, V is voltage and R is resistance).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3600" dirty="0"/>
              <a:t>The current power management circuit (PMC) operates at an approximate efficiency of 47.6%, which results in a reduction of power output.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b="0" u="none" dirty="0"/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b="0" u="none" dirty="0"/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b="0" u="none" dirty="0"/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b="0" u="none" dirty="0"/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b="0" u="none" dirty="0"/>
          </a:p>
          <a:p>
            <a:pPr marL="0" marR="0" indent="0" algn="ctr" defTabSz="3657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b="0" u="none" dirty="0"/>
          </a:p>
          <a:p>
            <a:pPr algn="ctr"/>
            <a:endParaRPr lang="en-US" sz="6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B98E95-5611-4CAB-9A87-B419DBF6A3C1}"/>
              </a:ext>
            </a:extLst>
          </p:cNvPr>
          <p:cNvSpPr txBox="1"/>
          <p:nvPr/>
        </p:nvSpPr>
        <p:spPr>
          <a:xfrm>
            <a:off x="440263" y="5572072"/>
            <a:ext cx="10939590" cy="192052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b="1" u="sng" dirty="0"/>
              <a:t>Background</a:t>
            </a:r>
            <a:endParaRPr lang="en-US" sz="6000" b="1" dirty="0"/>
          </a:p>
          <a:p>
            <a:r>
              <a:rPr lang="en-US" sz="3600" i="1" dirty="0"/>
              <a:t>Current Problem:</a:t>
            </a:r>
            <a:endParaRPr lang="en-US" sz="36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Wind energy is still costly due to high maintenance cost, notably the cost to replace sensors (used to detect cracks and damage within a wind turbine) is very high.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Current wired sensor networks:</a:t>
            </a:r>
          </a:p>
          <a:p>
            <a:pPr marL="24003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Increase the risk of lightning attraction.</a:t>
            </a:r>
          </a:p>
          <a:p>
            <a:pPr marL="24003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Low durability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Current wireless sensor networks:</a:t>
            </a:r>
          </a:p>
          <a:p>
            <a:pPr marL="24003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Dependent on batteries that are difficult to replace.</a:t>
            </a:r>
          </a:p>
          <a:p>
            <a:r>
              <a:rPr lang="en-US" sz="3600" i="1" dirty="0"/>
              <a:t>The Piezoelectric Solution:</a:t>
            </a:r>
            <a:endParaRPr lang="en-US" sz="36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A piezoelectric transducer (PZT) could convert mechanical stress into electric potential (voltage), which could then be turned into a power.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Using ambient energy from the rotation of a wind turbine, usable power can be created from a PZT.</a:t>
            </a:r>
          </a:p>
          <a:p>
            <a:pPr algn="ctr"/>
            <a:r>
              <a:rPr lang="en-US" sz="5400" b="1" u="sng" dirty="0"/>
              <a:t>Research Question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Can a piezoelectric energy harvesting system be used to replace batteries for sensors to reduce maintenance costs?</a:t>
            </a:r>
            <a:endParaRPr lang="en-US" sz="5400" b="0" dirty="0"/>
          </a:p>
          <a:p>
            <a:pPr algn="ctr"/>
            <a:r>
              <a:rPr lang="en-US" sz="5400" b="1" u="sng" dirty="0"/>
              <a:t>Methods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 scaled wind turbine system was used to determine the power output of the system during rotational speeds of a wind turbine (10 to 20 RPM). 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Conditions of the piezoelectric energy system optimized to maximize power output including: </a:t>
            </a:r>
          </a:p>
          <a:p>
            <a:pPr marL="24003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Gap between the magnets on the rotating disk and on the PZT, </a:t>
            </a:r>
          </a:p>
          <a:p>
            <a:pPr marL="24003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Weight of the unbalanced disk</a:t>
            </a:r>
          </a:p>
          <a:p>
            <a:pPr marL="24003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Number of magnets on the disk</a:t>
            </a:r>
          </a:p>
          <a:p>
            <a:pPr marL="24003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Electrical Resistance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CEFDDC-6134-485A-BC68-A023830DF537}"/>
              </a:ext>
            </a:extLst>
          </p:cNvPr>
          <p:cNvSpPr txBox="1"/>
          <p:nvPr/>
        </p:nvSpPr>
        <p:spPr>
          <a:xfrm>
            <a:off x="26204645" y="5525034"/>
            <a:ext cx="8478331" cy="176048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b="1" u="sng" dirty="0"/>
              <a:t>Discussion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dirty="0"/>
              <a:t>Target output power was 3 </a:t>
            </a:r>
            <a:r>
              <a:rPr lang="en-US" sz="3600" dirty="0" err="1"/>
              <a:t>mW</a:t>
            </a:r>
            <a:r>
              <a:rPr lang="en-US" sz="3600" dirty="0"/>
              <a:t>.</a:t>
            </a:r>
          </a:p>
          <a:p>
            <a:pPr marL="2514600" lvl="1" indent="-685800">
              <a:buFont typeface="Arial" panose="020B0604020202020204" pitchFamily="34" charset="0"/>
              <a:buChar char="•"/>
            </a:pPr>
            <a:r>
              <a:rPr lang="en-US" sz="3600" dirty="0"/>
              <a:t>Achieved by the combination of 2 PZTs, before PMC was applied.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dirty="0"/>
              <a:t>Suggests the potential for battery replacement in sensors.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dirty="0"/>
              <a:t>Inconsistent power output at different rotational speeds.</a:t>
            </a:r>
          </a:p>
          <a:p>
            <a:pPr marL="2514600" lvl="1" indent="-685800">
              <a:buFont typeface="Arial" panose="020B0604020202020204" pitchFamily="34" charset="0"/>
              <a:buChar char="•"/>
            </a:pPr>
            <a:r>
              <a:rPr lang="en-US" sz="3600" dirty="0"/>
              <a:t>Power output peaked at 16 RPM.</a:t>
            </a:r>
          </a:p>
          <a:p>
            <a:pPr marL="2514600" lvl="1" indent="-685800">
              <a:buFont typeface="Arial" panose="020B0604020202020204" pitchFamily="34" charset="0"/>
              <a:buChar char="•"/>
            </a:pPr>
            <a:r>
              <a:rPr lang="en-US" sz="3600" dirty="0"/>
              <a:t>Significant decrease under 14 RPM.</a:t>
            </a:r>
            <a:endParaRPr lang="en-US" sz="3600" b="0" u="none" dirty="0"/>
          </a:p>
          <a:p>
            <a:pPr algn="ctr"/>
            <a:r>
              <a:rPr lang="en-US" sz="5400" b="1" u="sng" dirty="0"/>
              <a:t>Future Directions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Energy harvesting system should be improved to have a more consistent power output at different rotational speeds.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Size and cost both could be significantly reduced.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Reducing the system from 2 PZTs to 1 could help to significantly reduce cost and size if power level could be maintained.</a:t>
            </a:r>
            <a:endParaRPr lang="en-US" sz="6000" b="1" u="sng" dirty="0"/>
          </a:p>
          <a:p>
            <a:pPr algn="ctr"/>
            <a:r>
              <a:rPr lang="en-US" sz="5400" b="1" u="sng" dirty="0"/>
              <a:t>Acknowledgements</a:t>
            </a:r>
          </a:p>
          <a:p>
            <a:r>
              <a:rPr lang="en-US" sz="3200" dirty="0"/>
              <a:t>This work was funded, in part, through an Undergraduate Research Award from the UMBC Division of Undergraduate Academic Affairs, as well as, through the Louis Stokes Alliance for Minority Participation.  A special thanks also to Dr. </a:t>
            </a:r>
            <a:r>
              <a:rPr lang="en-US" sz="3200" dirty="0" err="1"/>
              <a:t>Soobum</a:t>
            </a:r>
            <a:r>
              <a:rPr lang="en-US" sz="3200" dirty="0"/>
              <a:t> Lee, the principal investigator of the Energy Harvesting and Design Optimization Lab at UMBC for leading this research.  </a:t>
            </a:r>
            <a:endParaRPr lang="en-US" sz="4800" b="0" u="none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3D5A74-95C4-4E12-8315-2CA448C70683}"/>
              </a:ext>
            </a:extLst>
          </p:cNvPr>
          <p:cNvGrpSpPr/>
          <p:nvPr/>
        </p:nvGrpSpPr>
        <p:grpSpPr>
          <a:xfrm>
            <a:off x="11419477" y="7422476"/>
            <a:ext cx="6410404" cy="5659379"/>
            <a:chOff x="0" y="0"/>
            <a:chExt cx="6518815" cy="555079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873B218-160F-4D05-ADD0-41A5A394B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6518815" cy="5550790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4E2C365-FA0B-4934-A5FF-0A73801A8149}"/>
                </a:ext>
              </a:extLst>
            </p:cNvPr>
            <p:cNvCxnSpPr/>
            <p:nvPr/>
          </p:nvCxnSpPr>
          <p:spPr>
            <a:xfrm flipV="1">
              <a:off x="747106" y="2662928"/>
              <a:ext cx="5363147" cy="29024"/>
            </a:xfrm>
            <a:prstGeom prst="line">
              <a:avLst/>
            </a:prstGeom>
            <a:ln w="381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E0DA1B7-EF53-4E51-B978-21763F417E88}"/>
                </a:ext>
              </a:extLst>
            </p:cNvPr>
            <p:cNvSpPr txBox="1"/>
            <p:nvPr/>
          </p:nvSpPr>
          <p:spPr>
            <a:xfrm>
              <a:off x="3390577" y="2691518"/>
              <a:ext cx="2733495" cy="15443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US" sz="2400" kern="120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Average: 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US" sz="2400" kern="120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3.68 mW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7420B05-07BD-42DC-B81E-10560A72227B}"/>
                </a:ext>
              </a:extLst>
            </p:cNvPr>
            <p:cNvSpPr txBox="1"/>
            <p:nvPr/>
          </p:nvSpPr>
          <p:spPr>
            <a:xfrm>
              <a:off x="752466" y="207710"/>
              <a:ext cx="2733495" cy="15443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US" sz="2400" kern="12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Max:</a:t>
              </a:r>
              <a:endPara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US" sz="2400" kern="12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6.48 </a:t>
              </a:r>
              <a:r>
                <a:rPr lang="en-US" sz="2400" kern="1200" dirty="0" err="1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</a:rPr>
                <a:t>mW</a:t>
              </a:r>
              <a:endPara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B15F03-38C5-43D2-BA6A-0BF0596D0AB2}"/>
              </a:ext>
            </a:extLst>
          </p:cNvPr>
          <p:cNvGrpSpPr/>
          <p:nvPr/>
        </p:nvGrpSpPr>
        <p:grpSpPr>
          <a:xfrm>
            <a:off x="18505310" y="7422475"/>
            <a:ext cx="7062931" cy="5659379"/>
            <a:chOff x="5724508" y="3733800"/>
            <a:chExt cx="6838983" cy="5194553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9CD1DD0-79C5-4BBC-8A68-E004685E1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24508" y="3733800"/>
              <a:ext cx="6838983" cy="5194553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605A7E3-3C3E-4C71-BF82-5E15D2E8AB47}"/>
                </a:ext>
              </a:extLst>
            </p:cNvPr>
            <p:cNvCxnSpPr/>
            <p:nvPr/>
          </p:nvCxnSpPr>
          <p:spPr>
            <a:xfrm>
              <a:off x="6594046" y="6471502"/>
              <a:ext cx="5131047" cy="0"/>
            </a:xfrm>
            <a:prstGeom prst="line">
              <a:avLst/>
            </a:prstGeom>
            <a:ln w="381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9543BA4D-892A-4C84-92C7-414521AEA80D}"/>
                </a:ext>
              </a:extLst>
            </p:cNvPr>
            <p:cNvSpPr txBox="1"/>
            <p:nvPr/>
          </p:nvSpPr>
          <p:spPr>
            <a:xfrm>
              <a:off x="9047483" y="5669992"/>
              <a:ext cx="2916755" cy="1619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Average: </a:t>
              </a:r>
            </a:p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1.56 mW</a:t>
              </a:r>
            </a:p>
          </p:txBody>
        </p:sp>
        <p:sp>
          <p:nvSpPr>
            <p:cNvPr id="24" name="TextBox 7">
              <a:extLst>
                <a:ext uri="{FF2B5EF4-FFF2-40B4-BE49-F238E27FC236}">
                  <a16:creationId xmlns:a16="http://schemas.microsoft.com/office/drawing/2014/main" id="{7F7F71DE-9C0B-4717-AAAF-B390B736A007}"/>
                </a:ext>
              </a:extLst>
            </p:cNvPr>
            <p:cNvSpPr txBox="1"/>
            <p:nvPr/>
          </p:nvSpPr>
          <p:spPr>
            <a:xfrm>
              <a:off x="6623800" y="4028109"/>
              <a:ext cx="2758940" cy="16193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Max: </a:t>
              </a:r>
            </a:p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2.87 mW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F2A1BC5-39A1-4FFA-AC13-9B2F4E0311D1}"/>
                </a:ext>
              </a:extLst>
            </p:cNvPr>
            <p:cNvSpPr/>
            <p:nvPr/>
          </p:nvSpPr>
          <p:spPr>
            <a:xfrm>
              <a:off x="9453079" y="4236813"/>
              <a:ext cx="298812" cy="29554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000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964F8B7-2422-46FF-B6E8-B623C4F8E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4702" y="14515029"/>
            <a:ext cx="5321215" cy="28012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79A89B-2FA7-42A6-B1BF-CAE9FD8E0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1367" y="14747019"/>
            <a:ext cx="3704306" cy="2589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B66048-48C8-46DE-881E-98A5111EC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43863" y="14414893"/>
            <a:ext cx="3998735" cy="300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605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3446</TotalTime>
  <Words>470</Words>
  <Application>Microsoft Office PowerPoint</Application>
  <PresentationFormat>Custom</PresentationFormat>
  <Paragraphs>69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Tahoma</vt:lpstr>
      <vt:lpstr>Times New Roman</vt:lpstr>
      <vt:lpstr>Office Theme</vt:lpstr>
      <vt:lpstr>PowerPoint Presentation</vt:lpstr>
    </vt:vector>
  </TitlesOfParts>
  <Company>UMBC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Mower</dc:creator>
  <cp:lastModifiedBy>Miles Smith</cp:lastModifiedBy>
  <cp:revision>39</cp:revision>
  <dcterms:created xsi:type="dcterms:W3CDTF">2017-03-31T13:25:59Z</dcterms:created>
  <dcterms:modified xsi:type="dcterms:W3CDTF">2019-04-17T03:04:12Z</dcterms:modified>
</cp:coreProperties>
</file>